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Bricolage Grotesque ExtraBold" panose="020B0604020202020204" charset="0"/>
      <p:bold r:id="rId9"/>
    </p:embeddedFont>
    <p:embeddedFont>
      <p:font typeface="Bricolage Grotesque Light" panose="020B0604020202020204" charset="0"/>
      <p:regular r:id="rId10"/>
      <p:bold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8BA45-23F7-4000-8405-6085DBA74A39}" v="18" dt="2026-06-26T19:27:50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Lathi" userId="b7a535bb81b3719e" providerId="LiveId" clId="{8A17F320-7D67-49CF-AA22-24CE229DF20C}"/>
    <pc:docChg chg="custSel modSld">
      <pc:chgData name="Manish Lathi" userId="b7a535bb81b3719e" providerId="LiveId" clId="{8A17F320-7D67-49CF-AA22-24CE229DF20C}" dt="2026-06-26T19:27:50.908" v="18"/>
      <pc:docMkLst>
        <pc:docMk/>
      </pc:docMkLst>
      <pc:sldChg chg="modTransition">
        <pc:chgData name="Manish Lathi" userId="b7a535bb81b3719e" providerId="LiveId" clId="{8A17F320-7D67-49CF-AA22-24CE229DF20C}" dt="2026-06-26T19:24:38.454" v="7"/>
        <pc:sldMkLst>
          <pc:docMk/>
          <pc:sldMk cId="0" sldId="256"/>
        </pc:sldMkLst>
      </pc:sldChg>
      <pc:sldChg chg="modTransition">
        <pc:chgData name="Manish Lathi" userId="b7a535bb81b3719e" providerId="LiveId" clId="{8A17F320-7D67-49CF-AA22-24CE229DF20C}" dt="2026-06-26T19:24:09.603" v="2"/>
        <pc:sldMkLst>
          <pc:docMk/>
          <pc:sldMk cId="0" sldId="257"/>
        </pc:sldMkLst>
      </pc:sldChg>
      <pc:sldChg chg="modTransition addAnim delAnim modAnim">
        <pc:chgData name="Manish Lathi" userId="b7a535bb81b3719e" providerId="LiveId" clId="{8A17F320-7D67-49CF-AA22-24CE229DF20C}" dt="2026-06-26T19:27:50.908" v="18"/>
        <pc:sldMkLst>
          <pc:docMk/>
          <pc:sldMk cId="0" sldId="258"/>
        </pc:sldMkLst>
      </pc:sldChg>
      <pc:sldChg chg="modTransition">
        <pc:chgData name="Manish Lathi" userId="b7a535bb81b3719e" providerId="LiveId" clId="{8A17F320-7D67-49CF-AA22-24CE229DF20C}" dt="2026-06-26T19:24:20.551" v="4"/>
        <pc:sldMkLst>
          <pc:docMk/>
          <pc:sldMk cId="0" sldId="259"/>
        </pc:sldMkLst>
      </pc:sldChg>
      <pc:sldChg chg="modTransition">
        <pc:chgData name="Manish Lathi" userId="b7a535bb81b3719e" providerId="LiveId" clId="{8A17F320-7D67-49CF-AA22-24CE229DF20C}" dt="2026-06-26T19:24:23.354" v="5"/>
        <pc:sldMkLst>
          <pc:docMk/>
          <pc:sldMk cId="0" sldId="260"/>
        </pc:sldMkLst>
      </pc:sldChg>
      <pc:sldChg chg="modTransition">
        <pc:chgData name="Manish Lathi" userId="b7a535bb81b3719e" providerId="LiveId" clId="{8A17F320-7D67-49CF-AA22-24CE229DF20C}" dt="2026-06-26T19:24:25.868" v="6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496119" y="417240"/>
            <a:ext cx="4068366" cy="32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2000"/>
              <a:buFont typeface="Bricolage Grotesque ExtraBold"/>
              <a:buNone/>
            </a:pPr>
            <a:r>
              <a:rPr lang="en-US" sz="20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UrbanNest Growth Strategy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96119" y="773088"/>
            <a:ext cx="3458021" cy="19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1200"/>
              <a:buFont typeface="Bricolage Grotesque ExtraBold"/>
              <a:buNone/>
            </a:pPr>
            <a:r>
              <a:rPr lang="en-US" sz="12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A 3-Year Strategic Expansion Roadmap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96119" y="1082948"/>
            <a:ext cx="8608963" cy="14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Prepared by </a:t>
            </a:r>
            <a:r>
              <a:rPr lang="en-US" sz="800" b="1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Lakshya Maheshwari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96119" y="1339304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E5DCE6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496119" y="1494234"/>
            <a:ext cx="2220664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1000"/>
              <a:buFont typeface="Bricolage Grotesque ExtraBold"/>
              <a:buNone/>
            </a:pPr>
            <a:r>
              <a:rPr lang="en-US" sz="10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Current Business Snapshot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96119" y="1823591"/>
            <a:ext cx="4028108" cy="34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700"/>
              <a:buFont typeface="Bricolage Grotesque ExtraBold"/>
              <a:buNone/>
            </a:pPr>
            <a:r>
              <a:rPr lang="en-US" sz="27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12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859459" y="2276475"/>
            <a:ext cx="1301353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Bricolage Grotesque ExtraBold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Current Stores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96119" y="2484983"/>
            <a:ext cx="4028108" cy="14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Physical retail footprint across Pune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619774" y="1823591"/>
            <a:ext cx="4028108" cy="34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700"/>
              <a:buFont typeface="Bricolage Grotesque ExtraBold"/>
              <a:buNone/>
            </a:pPr>
            <a:r>
              <a:rPr lang="en-US" sz="27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₹28 Cr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983114" y="2276475"/>
            <a:ext cx="1301353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Bricolage Grotesque ExtraBold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Current Revenue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619774" y="2484983"/>
            <a:ext cx="4028108" cy="14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Annualised FY24 revenue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96119" y="2834283"/>
            <a:ext cx="4028108" cy="34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700"/>
              <a:buFont typeface="Bricolage Grotesque ExtraBold"/>
              <a:buNone/>
            </a:pPr>
            <a:r>
              <a:rPr lang="en-US" sz="27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30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859459" y="3287167"/>
            <a:ext cx="1301353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Bricolage Grotesque ExtraBold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Target Stores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96119" y="3495675"/>
            <a:ext cx="4028108" cy="14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Expansion target by Year 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619774" y="2834283"/>
            <a:ext cx="4028108" cy="34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700"/>
              <a:buFont typeface="Bricolage Grotesque ExtraBold"/>
              <a:buNone/>
            </a:pPr>
            <a:r>
              <a:rPr lang="en-US" sz="27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₹80 Cr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83114" y="3287167"/>
            <a:ext cx="1301353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Bricolage Grotesque ExtraBold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Target Revenue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619774" y="3495675"/>
            <a:ext cx="4028108" cy="14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Ambitious but achievable goal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96119" y="3802484"/>
            <a:ext cx="2128168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1000"/>
              <a:buFont typeface="Bricolage Grotesque ExtraBold"/>
              <a:buNone/>
            </a:pPr>
            <a:r>
              <a:rPr lang="en-US" sz="10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Current Business Position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96119" y="4041577"/>
            <a:ext cx="3948931" cy="657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62560" marR="0" lvl="0" indent="-16256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00"/>
              <a:buFont typeface="Montserrat"/>
              <a:buChar char="•"/>
            </a:pPr>
            <a:r>
              <a:rPr lang="en-US" sz="8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Mid-sized home furnishing retail chain based in Pune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2560" marR="0" lvl="0" indent="-16256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00"/>
              <a:buFont typeface="Montserrat"/>
              <a:buChar char="•"/>
            </a:pPr>
            <a:r>
              <a:rPr lang="en-US" sz="8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Operates 12 physical stores across the region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2560" marR="0" lvl="0" indent="-16256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00"/>
              <a:buFont typeface="Montserrat"/>
              <a:buChar char="•"/>
            </a:pPr>
            <a:r>
              <a:rPr lang="en-US" sz="8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Growing in India's expanding home furnishing market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2560" marR="0" lvl="0" indent="-16256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00"/>
              <a:buFont typeface="Montserrat"/>
              <a:buChar char="•"/>
            </a:pPr>
            <a:r>
              <a:rPr lang="en-US" sz="8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Small market share with significant growth potential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628778" y="3726061"/>
            <a:ext cx="4098801" cy="1000125"/>
          </a:xfrm>
          <a:prstGeom prst="roundRect">
            <a:avLst>
              <a:gd name="adj" fmla="val 7495"/>
            </a:avLst>
          </a:prstGeom>
          <a:solidFill>
            <a:srgbClr val="7D8F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732883" y="3802484"/>
            <a:ext cx="1988641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Bricolage Grotesque ExtraBold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Key Strategic Challenge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732883" y="4041577"/>
            <a:ext cx="3890590" cy="43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can UrbanNest grow from ₹28 crore to ₹80 crore whilst expanding from 12 to 30 stores — without compromising operational efficiency, profitability, or customer experience?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496119" y="445517"/>
            <a:ext cx="5306913" cy="27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1700"/>
              <a:buFont typeface="Bricolage Grotesque ExtraBold"/>
              <a:buNone/>
            </a:pPr>
            <a:r>
              <a:rPr lang="en-US" sz="17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Indian Home Furnishing Market Opportunity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96119" y="855241"/>
            <a:ext cx="3967832" cy="345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The Indian home furnishing market is on a sustained growth trajectory, projected to reach </a:t>
            </a:r>
            <a:r>
              <a:rPr lang="en-US" sz="650" b="1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US$54.3 billion by 2026</a:t>
            </a: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. This expansion is fuelled by structural shifts in consumer behaviour and macroeconomic tailwinds.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263104"/>
            <a:ext cx="3967832" cy="285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4812" y="867742"/>
            <a:ext cx="221456" cy="22145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/>
          <p:nvPr/>
        </p:nvSpPr>
        <p:spPr>
          <a:xfrm>
            <a:off x="4684812" y="1158404"/>
            <a:ext cx="1107504" cy="13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50"/>
              <a:buFont typeface="Bricolage Grotesque ExtraBold"/>
              <a:buNone/>
            </a:pPr>
            <a:r>
              <a:rPr lang="en-US" sz="85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Omnichannel Retail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684812" y="1352178"/>
            <a:ext cx="3967832" cy="11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Customers expect seamless online and offline shopping experiences.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84812" y="1578099"/>
            <a:ext cx="221456" cy="2214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4684812" y="1868760"/>
            <a:ext cx="1107504" cy="13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50"/>
              <a:buFont typeface="Bricolage Grotesque ExtraBold"/>
              <a:buNone/>
            </a:pPr>
            <a:r>
              <a:rPr lang="en-US" sz="85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Modular Furniture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684812" y="2062535"/>
            <a:ext cx="3967832" cy="11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Growing demand among urban households seeking flexibility.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84812" y="2288456"/>
            <a:ext cx="221456" cy="22145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4684812" y="2579117"/>
            <a:ext cx="1107504" cy="13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50"/>
              <a:buFont typeface="Bricolage Grotesque ExtraBold"/>
              <a:buNone/>
            </a:pPr>
            <a:r>
              <a:rPr lang="en-US" sz="85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Sustainability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84812" y="2772891"/>
            <a:ext cx="3967832" cy="11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Increasing preference for eco-friendly, responsibly sourced products.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4812" y="2998812"/>
            <a:ext cx="221456" cy="221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4684812" y="3289474"/>
            <a:ext cx="1165920" cy="13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50"/>
              <a:buFont typeface="Bricolage Grotesque ExtraBold"/>
              <a:buNone/>
            </a:pPr>
            <a:r>
              <a:rPr lang="en-US" sz="85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Experience-led Retail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684812" y="3483248"/>
            <a:ext cx="3967832" cy="11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Customers prefer experiencing furniture before purchasing.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4812" y="3709169"/>
            <a:ext cx="221456" cy="221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4684812" y="3999830"/>
            <a:ext cx="1159818" cy="13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850"/>
              <a:buFont typeface="Bricolage Grotesque ExtraBold"/>
              <a:buNone/>
            </a:pPr>
            <a:r>
              <a:rPr lang="en-US" sz="85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Tier-2 City Expansion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684812" y="4193604"/>
            <a:ext cx="3967832" cy="11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Emerging cities offer strong long-term growth opportunities.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96119" y="4433367"/>
            <a:ext cx="8151763" cy="264542"/>
          </a:xfrm>
          <a:prstGeom prst="roundRect">
            <a:avLst>
              <a:gd name="adj" fmla="val 14067"/>
            </a:avLst>
          </a:prstGeom>
          <a:solidFill>
            <a:srgbClr val="670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4671" y="4547443"/>
            <a:ext cx="110728" cy="8855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783952" y="4510832"/>
            <a:ext cx="8232577" cy="11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India's home furnishing market is expanding steadily, creating strong opportunities for organised retailers with scalable and customer-focused business models.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496119" y="427881"/>
            <a:ext cx="3821683" cy="26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1650"/>
              <a:buFont typeface="Bricolage Grotesque ExtraBold"/>
              <a:buNone/>
            </a:pPr>
            <a:r>
              <a:rPr lang="en-US" sz="165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Recommended Growth Strategy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96119" y="765870"/>
            <a:ext cx="5078090" cy="36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2250"/>
              <a:buFont typeface="Bricolage Grotesque ExtraBold"/>
              <a:buNone/>
            </a:pPr>
            <a:r>
              <a:rPr lang="en-US" sz="225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Phased Omnichannel Expansion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361" y="1203796"/>
            <a:ext cx="4803279" cy="207124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2189655" y="1231114"/>
            <a:ext cx="4764690" cy="15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00"/>
              <a:buFont typeface="Montserrat"/>
              <a:buNone/>
            </a:pPr>
            <a:r>
              <a:rPr lang="en-US" sz="6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Each phase builds upon the previous, ensuring UrbanNest expands from a position of operational strength rather than premature scaling.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2189655" y="1203796"/>
            <a:ext cx="4764690" cy="234302"/>
          </a:xfrm>
          <a:prstGeom prst="roundRect">
            <a:avLst>
              <a:gd name="adj" fmla="val 13659"/>
            </a:avLst>
          </a:prstGeom>
          <a:solidFill>
            <a:srgbClr val="670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2439417" y="1223009"/>
            <a:ext cx="4438078" cy="19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-US" sz="6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UrbanNest</a:t>
            </a:r>
            <a:r>
              <a:rPr lang="en-US" sz="6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should strengthen operations first, build a seamless omnichannel presence, and then expand selectively into high-potential markets to achieve sustainable long-term growth.</a:t>
            </a:r>
            <a:endParaRPr sz="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96119" y="3352205"/>
            <a:ext cx="8151763" cy="9525"/>
          </a:xfrm>
          <a:prstGeom prst="roundRect">
            <a:avLst>
              <a:gd name="adj" fmla="val 60000"/>
            </a:avLst>
          </a:prstGeom>
          <a:solidFill>
            <a:srgbClr val="E5DCE6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496119" y="3457649"/>
            <a:ext cx="2758901" cy="2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1300"/>
              <a:buFont typeface="Bricolage Grotesque ExtraBold"/>
              <a:buNone/>
            </a:pPr>
            <a:r>
              <a:rPr lang="en-US" sz="13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Three pillars of the strategy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96119" y="3792885"/>
            <a:ext cx="1846362" cy="1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800"/>
              <a:buFont typeface="Bricolage Grotesque ExtraBold"/>
              <a:buNone/>
            </a:pPr>
            <a:r>
              <a:rPr lang="en-US" sz="8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Operational Strengthening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96119" y="3974306"/>
            <a:ext cx="2552402" cy="32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Focus on building a more resilient foundation through supply chain improvements, tighter inventory management, and standardized processes across the business.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96119" y="4341168"/>
            <a:ext cx="2552402" cy="35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2080" marR="0" lvl="0" indent="-13208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Char char="•"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Improve supply chain reliability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2080" marR="0" lvl="0" indent="-13208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Char char="•"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Strengthen inventory visibility and control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2080" marR="0" lvl="0" indent="-13208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Char char="•"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Standardize core operating processes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258666" y="3792885"/>
            <a:ext cx="1753344" cy="1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800"/>
              <a:buFont typeface="Bricolage Grotesque ExtraBold"/>
              <a:buNone/>
            </a:pPr>
            <a:r>
              <a:rPr lang="en-US" sz="8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Omnichannel Integration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258666" y="3974306"/>
            <a:ext cx="2636044" cy="32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Create a seamless online-offline customer experience by aligning digital touchpoints, physical stores, and customer data into one connected journey.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258666" y="4341168"/>
            <a:ext cx="2636044" cy="35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2080" marR="0" lvl="0" indent="-13208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Char char="•"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Unify the customer experience across channels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2080" marR="0" lvl="0" indent="-13208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Char char="•"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Strengthen digital presence and discovery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2080" marR="0" lvl="0" indent="-13208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Char char="•"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Use customer data to improve personalization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104855" y="3792885"/>
            <a:ext cx="2130103" cy="1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800"/>
              <a:buFont typeface="Bricolage Grotesque ExtraBold"/>
              <a:buNone/>
            </a:pPr>
            <a:r>
              <a:rPr lang="en-US" sz="8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Selective Geographic Expansion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104855" y="3974306"/>
            <a:ext cx="2552402" cy="32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None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Expand cautiously into high-potential tier-2 cities where demand is attractive and execution can be scaled efficiently, including markets like Ahmedabad and Indore.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104855" y="4341168"/>
            <a:ext cx="2552402" cy="35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2080" marR="0" lvl="0" indent="-13208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Char char="•"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Prioritize high-potential tier-2 cities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2080" marR="0" lvl="0" indent="-13208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Char char="•"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Target markets such as Ahmedabad and Indore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2080" marR="0" lvl="0" indent="-13208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650"/>
              <a:buFont typeface="Montserrat"/>
              <a:buChar char="•"/>
            </a:pPr>
            <a:r>
              <a:rPr lang="en-US" sz="6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Expand only where operational readiness is strong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496119" y="498202"/>
            <a:ext cx="5201841" cy="41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2600"/>
              <a:buFont typeface="Bricolage Grotesque ExtraBold"/>
              <a:buNone/>
            </a:pPr>
            <a:r>
              <a:rPr lang="en-US" sz="26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Three-Year Growth Roadmap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96119" y="1162645"/>
            <a:ext cx="265807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Bricolage Grotesque Ligh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96119" y="1374204"/>
            <a:ext cx="2634183" cy="14288"/>
          </a:xfrm>
          <a:prstGeom prst="rect">
            <a:avLst/>
          </a:prstGeom>
          <a:solidFill>
            <a:srgbClr val="EEA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496119" y="1469231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300"/>
              <a:buFont typeface="Bricolage Grotesque ExtraBold"/>
              <a:buNone/>
            </a:pPr>
            <a:r>
              <a:rPr lang="en-US" sz="13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Year 1 · Foundation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96119" y="1751633"/>
            <a:ext cx="2634183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Strengthen inventory management and supply chain. Launch omnichannel improvements. Standardise store operations across all locations.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254871" y="1162645"/>
            <a:ext cx="265807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Bricolage Grotesque Ligh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254871" y="1374204"/>
            <a:ext cx="2634183" cy="14288"/>
          </a:xfrm>
          <a:prstGeom prst="rect">
            <a:avLst/>
          </a:prstGeom>
          <a:solidFill>
            <a:srgbClr val="EEA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3254871" y="1469231"/>
            <a:ext cx="2356024" cy="2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300"/>
              <a:buFont typeface="Bricolage Grotesque ExtraBold"/>
              <a:buNone/>
            </a:pPr>
            <a:r>
              <a:rPr lang="en-US" sz="13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Year 2 · Measured Expansion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254871" y="1751633"/>
            <a:ext cx="2634183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Open stores in Ahmedabad and Indore. Monitor store performance closely. Improve customer acquisition through targeted marketing.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013624" y="1162645"/>
            <a:ext cx="265807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Bricolage Grotesque Ligh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013624" y="1374204"/>
            <a:ext cx="2634183" cy="14288"/>
          </a:xfrm>
          <a:prstGeom prst="rect">
            <a:avLst/>
          </a:prstGeom>
          <a:solidFill>
            <a:srgbClr val="EEA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013624" y="1469231"/>
            <a:ext cx="1896294" cy="2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300"/>
              <a:buFont typeface="Bricolage Grotesque ExtraBold"/>
              <a:buNone/>
            </a:pPr>
            <a:r>
              <a:rPr lang="en-US" sz="13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Year 3 · Scale &amp; Sustain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013624" y="1751633"/>
            <a:ext cx="2634183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Expand into additional high-potential cities. Scale the proven operating model. Achieve 30 stores and ₹80 crore annual revenue.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96119" y="2848496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E5DCE6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96119" y="3082826"/>
            <a:ext cx="2150864" cy="2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1300"/>
              <a:buFont typeface="Bricolage Grotesque ExtraBold"/>
              <a:buNone/>
            </a:pPr>
            <a:r>
              <a:rPr lang="en-US" sz="130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Key Success Factors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3477369"/>
            <a:ext cx="1944514" cy="116785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629022" y="3610273"/>
            <a:ext cx="1678707" cy="41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300"/>
              <a:buFont typeface="Bricolage Grotesque ExtraBold"/>
              <a:buNone/>
            </a:pPr>
            <a:r>
              <a:rPr lang="en-US" sz="13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Operational Excellence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29022" y="4100364"/>
            <a:ext cx="1678707" cy="411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Standardised, replicable store model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5202" y="3477369"/>
            <a:ext cx="1944514" cy="116785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2698105" y="3610273"/>
            <a:ext cx="1678707" cy="41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300"/>
              <a:buFont typeface="Bricolage Grotesque ExtraBold"/>
              <a:buNone/>
            </a:pPr>
            <a:r>
              <a:rPr lang="en-US" sz="13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Customer Experience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698105" y="4100364"/>
            <a:ext cx="1678707" cy="411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Seamless omnichannel journey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4285" y="3477369"/>
            <a:ext cx="1944514" cy="116785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4767188" y="3610273"/>
            <a:ext cx="1678707" cy="41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300"/>
              <a:buFont typeface="Bricolage Grotesque ExtraBold"/>
              <a:buNone/>
            </a:pPr>
            <a:r>
              <a:rPr lang="en-US" sz="13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Data-Driven Decisions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767188" y="4100364"/>
            <a:ext cx="1678707" cy="411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Performance tracking at every step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3368" y="3477369"/>
            <a:ext cx="1944514" cy="116785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6836271" y="3610273"/>
            <a:ext cx="1678707" cy="41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300"/>
              <a:buFont typeface="Bricolage Grotesque ExtraBold"/>
              <a:buNone/>
            </a:pPr>
            <a:r>
              <a:rPr lang="en-US" sz="130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Disciplined Expansion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836271" y="4100364"/>
            <a:ext cx="1678707" cy="411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Validate before scaling further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496119" y="405780"/>
            <a:ext cx="5000179" cy="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2650"/>
              <a:buFont typeface="Bricolage Grotesque ExtraBold"/>
              <a:buNone/>
            </a:pPr>
            <a:r>
              <a:rPr lang="en-US" sz="265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Key Risks &amp; Mitigation Plan</a:t>
            </a:r>
            <a:endParaRPr sz="2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96119" y="1085627"/>
            <a:ext cx="8151763" cy="2984078"/>
          </a:xfrm>
          <a:prstGeom prst="roundRect">
            <a:avLst>
              <a:gd name="adj" fmla="val 1902"/>
            </a:avLst>
          </a:prstGeom>
          <a:noFill/>
          <a:ln w="9525" cap="flat" cmpd="sng">
            <a:solidFill>
              <a:srgbClr val="FFFFFF">
                <a:alpha val="2392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500955" y="1090389"/>
            <a:ext cx="1465585" cy="377503"/>
          </a:xfrm>
          <a:prstGeom prst="rect">
            <a:avLst/>
          </a:prstGeom>
          <a:solidFill>
            <a:srgbClr val="7D8F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636017" y="1172394"/>
            <a:ext cx="1652662" cy="21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Risk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966540" y="1090389"/>
            <a:ext cx="3338289" cy="377503"/>
          </a:xfrm>
          <a:prstGeom prst="rect">
            <a:avLst/>
          </a:prstGeom>
          <a:solidFill>
            <a:srgbClr val="7D8F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2101602" y="1172394"/>
            <a:ext cx="3525366" cy="21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Impact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304830" y="1090389"/>
            <a:ext cx="3338289" cy="377503"/>
          </a:xfrm>
          <a:prstGeom prst="rect">
            <a:avLst/>
          </a:prstGeom>
          <a:solidFill>
            <a:srgbClr val="7D8F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5439891" y="1172394"/>
            <a:ext cx="3525366" cy="21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Mitigation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36017" y="1552277"/>
            <a:ext cx="1195462" cy="499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Rapid Expansion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A5230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7A5230"/>
                </a:solidFill>
                <a:latin typeface="Montserrat"/>
                <a:ea typeface="Montserrat"/>
                <a:cs typeface="Montserrat"/>
                <a:sym typeface="Montserrat"/>
              </a:rPr>
              <a:t>Risk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2101602" y="1552277"/>
            <a:ext cx="3068166" cy="7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Higher operating costs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Inventory challenges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Poor customer experience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39891" y="1552277"/>
            <a:ext cx="3068166" cy="7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Phase expansion carefully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Strengthen supply chain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Standardise operations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36017" y="2393007"/>
            <a:ext cx="1195462" cy="7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Strong Competition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A5230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7A5230"/>
                </a:solidFill>
                <a:latin typeface="Montserrat"/>
                <a:ea typeface="Montserrat"/>
                <a:cs typeface="Montserrat"/>
                <a:sym typeface="Montserrat"/>
              </a:rPr>
              <a:t>Risk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2101602" y="2393007"/>
            <a:ext cx="3068166" cy="7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Lower market share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Pricing pressure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Slower customer acquisition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439891" y="2393007"/>
            <a:ext cx="3068166" cy="7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Differentiate through service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Localised product offerings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Strong omnichannel strategy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36017" y="3272358"/>
            <a:ext cx="1195462" cy="7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Poor Market Selection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A5230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7A5230"/>
                </a:solidFill>
                <a:latin typeface="Montserrat"/>
                <a:ea typeface="Montserrat"/>
                <a:cs typeface="Montserrat"/>
                <a:sym typeface="Montserrat"/>
              </a:rPr>
              <a:t>Risk 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2101602" y="3272358"/>
            <a:ext cx="3068166" cy="46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Low store profitability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Slow revenue growth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439891" y="3272358"/>
            <a:ext cx="3068166" cy="7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Evaluate customer demand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Study income levels &amp; competition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050"/>
              <a:buFont typeface="Montserrat"/>
              <a:buChar char="•"/>
            </a:pPr>
            <a:r>
              <a:rPr lang="en-US" sz="105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Assess real estate growth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96119" y="4214589"/>
            <a:ext cx="8151763" cy="523131"/>
          </a:xfrm>
          <a:prstGeom prst="roundRect">
            <a:avLst>
              <a:gd name="adj" fmla="val 10848"/>
            </a:avLst>
          </a:prstGeom>
          <a:solidFill>
            <a:srgbClr val="670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180" y="4403229"/>
            <a:ext cx="168846" cy="1350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935087" y="4377035"/>
            <a:ext cx="8034933" cy="21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Disciplined execution and operational readiness are more important than rapid expansion.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496119" y="451917"/>
            <a:ext cx="4683249" cy="37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2350"/>
              <a:buFont typeface="Bricolage Grotesque ExtraBold"/>
              <a:buNone/>
            </a:pPr>
            <a:r>
              <a:rPr lang="en-US" sz="235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Strategic Recommendations</a:t>
            </a:r>
            <a:endParaRPr sz="2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027509"/>
            <a:ext cx="4025429" cy="86781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"/>
          <p:cNvSpPr/>
          <p:nvPr/>
        </p:nvSpPr>
        <p:spPr>
          <a:xfrm>
            <a:off x="687139" y="1161380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150"/>
              <a:buFont typeface="Bricolage Grotesque ExtraBold"/>
              <a:buNone/>
            </a:pPr>
            <a:r>
              <a:rPr lang="en-US" sz="115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Operations First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87139" y="1408733"/>
            <a:ext cx="3700537" cy="352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900"/>
              <a:buFont typeface="Montserrat"/>
              <a:buNone/>
            </a:pPr>
            <a:r>
              <a:rPr lang="en-US" sz="9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Strengthen supply chain, inventory management, and store operations before any expansion begins.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2453" y="1027509"/>
            <a:ext cx="4025429" cy="86781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4813474" y="1161380"/>
            <a:ext cx="1574527" cy="18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150"/>
              <a:buFont typeface="Bricolage Grotesque ExtraBold"/>
              <a:buNone/>
            </a:pPr>
            <a:r>
              <a:rPr lang="en-US" sz="115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Omnichannel Growth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813474" y="1408733"/>
            <a:ext cx="3700537" cy="352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900"/>
              <a:buFont typeface="Montserrat"/>
              <a:buNone/>
            </a:pPr>
            <a:r>
              <a:rPr lang="en-US" sz="9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Build an integrated online and offline customer experience that drives convenience and loyalty.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996232"/>
            <a:ext cx="4025429" cy="86781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687139" y="2130103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150"/>
              <a:buFont typeface="Bricolage Grotesque ExtraBold"/>
              <a:buNone/>
            </a:pPr>
            <a:r>
              <a:rPr lang="en-US" sz="115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Smart Expansion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87139" y="2377455"/>
            <a:ext cx="3700537" cy="352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900"/>
              <a:buFont typeface="Montserrat"/>
              <a:buNone/>
            </a:pPr>
            <a:r>
              <a:rPr lang="en-US" sz="9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Expand gradually, beginning with Ahmedabad and Indore before entering additional markets.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2453" y="1996232"/>
            <a:ext cx="4025429" cy="86781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/>
          <p:nvPr/>
        </p:nvSpPr>
        <p:spPr>
          <a:xfrm>
            <a:off x="4813474" y="2130103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150"/>
              <a:buFont typeface="Bricolage Grotesque ExtraBold"/>
              <a:buNone/>
            </a:pPr>
            <a:r>
              <a:rPr lang="en-US" sz="1150" b="0" i="0" u="none" strike="noStrike" cap="none">
                <a:solidFill>
                  <a:srgbClr val="E5DCE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Long-Term Success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813474" y="2377455"/>
            <a:ext cx="3700537" cy="352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900"/>
              <a:buFont typeface="Montserrat"/>
              <a:buNone/>
            </a:pPr>
            <a:r>
              <a:rPr lang="en-US" sz="9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Use data-driven decisions to improve profitability and support sustainable, scalable growth.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09947" y="2977530"/>
            <a:ext cx="4102298" cy="1713979"/>
          </a:xfrm>
          <a:prstGeom prst="roundRect">
            <a:avLst>
              <a:gd name="adj" fmla="val 5025"/>
            </a:avLst>
          </a:prstGeom>
          <a:solidFill>
            <a:srgbClr val="7D8F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29530" y="3078435"/>
            <a:ext cx="2166789" cy="18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Bricolage Grotesque ExtraBold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Final Recommendation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29530" y="3366195"/>
            <a:ext cx="3863132" cy="1234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UrbanNest should adopt a phased omnichannel expansion strategy — first strengthening internal operations, then building integrated online and offline capabilities, and finally expanding selectively into high-potential cities such as Ahmedabad and Indore. This balanced approach will help the company achieve 30 stores and ₹80 crore annual revenue whilst maintaining operational efficiency, profitability, and customer satisfaction.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722688" y="3078435"/>
            <a:ext cx="1952402" cy="18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1150"/>
              <a:buFont typeface="Bricolage Grotesque ExtraBold"/>
              <a:buNone/>
            </a:pPr>
            <a:r>
              <a:rPr lang="en-US" sz="1150" b="0" i="0" u="none" strike="noStrike" cap="none">
                <a:solidFill>
                  <a:srgbClr val="EEAEF6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Why Konsyte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722688" y="3366195"/>
            <a:ext cx="3929955" cy="1148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900"/>
              <a:buFont typeface="Montserrat"/>
              <a:buNone/>
            </a:pPr>
            <a:r>
              <a:rPr lang="en-US" sz="900" b="0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As a strategic partner, Konsyte brings deep expertise in retail expansion, omnichannel transformation, and operational excellence. We work alongside leadership teams to turn growth ambitions into measurable results.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3000"/>
              </a:lnSpc>
              <a:spcBef>
                <a:spcPts val="700"/>
              </a:spcBef>
              <a:spcAft>
                <a:spcPts val="0"/>
              </a:spcAft>
              <a:buClr>
                <a:srgbClr val="E5DCE6"/>
              </a:buClr>
              <a:buSzPts val="900"/>
              <a:buFont typeface="Montserrat"/>
              <a:buNone/>
            </a:pPr>
            <a:r>
              <a:rPr lang="en-US" sz="900" b="1" i="0" u="none" strike="noStrike" cap="non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Prepared by - Lakshya Maheshwari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Microsoft Office PowerPoint</Application>
  <PresentationFormat>On-screen Show (16:9)</PresentationFormat>
  <Paragraphs>123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Montserrat</vt:lpstr>
      <vt:lpstr>Bricolage Grotesque ExtraBold</vt:lpstr>
      <vt:lpstr>Bricolage Grotesque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Manish Lathi</cp:lastModifiedBy>
  <cp:revision>1</cp:revision>
  <dcterms:modified xsi:type="dcterms:W3CDTF">2026-06-26T19:27:56Z</dcterms:modified>
</cp:coreProperties>
</file>